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Source Code Pro"/>
      <p:regular r:id="rId27"/>
      <p:bold r:id="rId28"/>
      <p:italic r:id="rId29"/>
      <p:boldItalic r:id="rId30"/>
    </p:embeddedFont>
    <p:embeddedFont>
      <p:font typeface="PT Sans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IBM Plex Mono"/>
      <p:regular r:id="rId39"/>
      <p:bold r:id="rId40"/>
      <p:italic r:id="rId41"/>
      <p:boldItalic r:id="rId42"/>
    </p:embeddedFont>
    <p:embeddedFont>
      <p:font typeface="Poppins ExtraBold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bold.fntdata"/><Relationship Id="rId20" Type="http://schemas.openxmlformats.org/officeDocument/2006/relationships/slide" Target="slides/slide16.xml"/><Relationship Id="rId42" Type="http://schemas.openxmlformats.org/officeDocument/2006/relationships/font" Target="fonts/IBMPlexMono-boldItalic.fntdata"/><Relationship Id="rId41" Type="http://schemas.openxmlformats.org/officeDocument/2006/relationships/font" Target="fonts/IBMPlexMono-italic.fntdata"/><Relationship Id="rId22" Type="http://schemas.openxmlformats.org/officeDocument/2006/relationships/slide" Target="slides/slide18.xml"/><Relationship Id="rId44" Type="http://schemas.openxmlformats.org/officeDocument/2006/relationships/font" Target="fonts/PoppinsExtraBold-boldItalic.fntdata"/><Relationship Id="rId21" Type="http://schemas.openxmlformats.org/officeDocument/2006/relationships/slide" Target="slides/slide17.xml"/><Relationship Id="rId43" Type="http://schemas.openxmlformats.org/officeDocument/2006/relationships/font" Target="fonts/PoppinsExtraBold-bold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SourceCodePro-bold.fntdata"/><Relationship Id="rId27" Type="http://schemas.openxmlformats.org/officeDocument/2006/relationships/font" Target="fonts/SourceCodePr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ourceCodePr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regular.fntdata"/><Relationship Id="rId30" Type="http://schemas.openxmlformats.org/officeDocument/2006/relationships/font" Target="fonts/SourceCodePro-boldItalic.fntdata"/><Relationship Id="rId11" Type="http://schemas.openxmlformats.org/officeDocument/2006/relationships/slide" Target="slides/slide7.xml"/><Relationship Id="rId33" Type="http://schemas.openxmlformats.org/officeDocument/2006/relationships/font" Target="fonts/PTSans-italic.fntdata"/><Relationship Id="rId10" Type="http://schemas.openxmlformats.org/officeDocument/2006/relationships/slide" Target="slides/slide6.xml"/><Relationship Id="rId32" Type="http://schemas.openxmlformats.org/officeDocument/2006/relationships/font" Target="fonts/PTSans-bold.fntdata"/><Relationship Id="rId13" Type="http://schemas.openxmlformats.org/officeDocument/2006/relationships/slide" Target="slides/slide9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8.xml"/><Relationship Id="rId34" Type="http://schemas.openxmlformats.org/officeDocument/2006/relationships/font" Target="fonts/PTSans-boldItalic.fntdata"/><Relationship Id="rId15" Type="http://schemas.openxmlformats.org/officeDocument/2006/relationships/slide" Target="slides/slide11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-bold.fntdata"/><Relationship Id="rId17" Type="http://schemas.openxmlformats.org/officeDocument/2006/relationships/slide" Target="slides/slide13.xml"/><Relationship Id="rId39" Type="http://schemas.openxmlformats.org/officeDocument/2006/relationships/font" Target="fonts/IBMPlexMono-regular.fntdata"/><Relationship Id="rId16" Type="http://schemas.openxmlformats.org/officeDocument/2006/relationships/slide" Target="slides/slide12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4f622bbc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4f622bbc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4ed99bf1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4ed99bf1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4ef22aa1ac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4ef22aa1ac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4ed99bf1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4ed99bf1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4ef22aa1ac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4ef22aa1ac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4e5c2c9e4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4e5c2c9e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4e6b4d5c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4e6b4d5c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4ed99bf1a4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4ed99bf1a4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24ef22aa1ac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24ef22aa1ac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d94100a8c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d94100a8c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4ed99bf1a4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4ed99bf1a4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24ed99bf1a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4ed99bf1a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4ed99bf1a4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4ed99bf1a4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24e6b4d5c3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24e6b4d5c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3d958040c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3d958040c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d958040c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d958040c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24ed99bf1a4_0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24ed99bf1a4_0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83" name="Google Shape;1283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4" name="Google Shape;1284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5" name="Google Shape;1285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88" name="Google Shape;1288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9" name="Google Shape;1289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0" name="Google Shape;1290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1" name="Google Shape;1291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2" name="Google Shape;1292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6" name="Google Shape;1296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7" name="Google Shape;1297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298" name="Google Shape;1298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3" name="Google Shape;130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4" name="Google Shape;130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5" name="Google Shape;130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6" name="Google Shape;130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7" name="Google Shape;130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1" name="Google Shape;131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3" name="Google Shape;131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5" name="Google Shape;131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6" name="Google Shape;131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7" name="Google Shape;131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1" name="Google Shape;132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2" name="Google Shape;1322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3" name="Google Shape;1323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4" name="Google Shape;1324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5" name="Google Shape;1325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0" name="Google Shape;1330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1" name="Google Shape;1331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2" name="Google Shape;133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4" name="Google Shape;1334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5" name="Google Shape;1335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37" name="Google Shape;1337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>
            <p:ph idx="1" type="subTitle"/>
          </p:nvPr>
        </p:nvSpPr>
        <p:spPr>
          <a:xfrm>
            <a:off x="1084650" y="2625075"/>
            <a:ext cx="64185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Universidade Federal de Roraima (UFRR)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Análise de Algoritmos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Professor: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Prof. Dr. Herbert Oliveira Rocha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Helian Vinicius Filinto da Silva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José Carvalho Neto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1084650" y="6041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Torre de Hanói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1084650" y="2740261"/>
            <a:ext cx="3936683" cy="134070"/>
            <a:chOff x="1096850" y="3242811"/>
            <a:chExt cx="3936683" cy="134070"/>
          </a:xfrm>
        </p:grpSpPr>
        <p:cxnSp>
          <p:nvCxnSpPr>
            <p:cNvPr id="1427" name="Google Shape;142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8" name="Google Shape;142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9" name="Google Shape;142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1" name="Google Shape;1431;p32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2" name="Google Shape;143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3" name="Google Shape;143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4" name="Google Shape;143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6" name="Google Shape;1436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3" name="Google Shape;144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6" name="Google Shape;144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7" name="Google Shape;1447;p32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Objetivo:</a:t>
            </a:r>
            <a:endParaRPr/>
          </a:p>
        </p:txBody>
      </p:sp>
      <p:sp>
        <p:nvSpPr>
          <p:cNvPr id="1453" name="Google Shape;1453;p33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Analisar o comportamento computacional do algoritmo da </a:t>
            </a: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Torre de Hanói, </a:t>
            </a:r>
            <a:r>
              <a:rPr lang="en">
                <a:latin typeface="IBM Plex Mono"/>
                <a:ea typeface="IBM Plex Mono"/>
                <a:cs typeface="IBM Plex Mono"/>
                <a:sym typeface="IBM Plex Mono"/>
              </a:rPr>
              <a:t>comparando duas implementações: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1"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Recursiva</a:t>
            </a: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1"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Iterativa</a:t>
            </a: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foco do trabalho é observar: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função de custo;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complexidade assintótica;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tempo de execução;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diferenças práticas entre as implementações. 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3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a Torre de Hanói?</a:t>
            </a:r>
            <a:endParaRPr/>
          </a:p>
        </p:txBody>
      </p:sp>
      <p:sp>
        <p:nvSpPr>
          <p:cNvPr id="1460" name="Google Shape;1460;p34"/>
          <p:cNvSpPr txBox="1"/>
          <p:nvPr>
            <p:ph idx="1" type="subTitle"/>
          </p:nvPr>
        </p:nvSpPr>
        <p:spPr>
          <a:xfrm>
            <a:off x="4881006" y="1328350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Regras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um disco pode ser movido por vez;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disco maior nunca pode ser colocado sobre um disco menor;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Todos os discos começam empilhados na haste de origem em ordem decrescente de tamanho.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34"/>
          <p:cNvSpPr txBox="1"/>
          <p:nvPr>
            <p:ph idx="2" type="subTitle"/>
          </p:nvPr>
        </p:nvSpPr>
        <p:spPr>
          <a:xfrm>
            <a:off x="312600" y="1379250"/>
            <a:ext cx="42027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Torre de Hanói é um problema clássico da matemática e da computação, muito utilizado no estudo de recursão e análise de algoritmos.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 problema consiste em mover uma pilha de discos de uma haste de origem para uma haste de destino, utilizando uma haste auxiliar, respeitando regras específicas.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2" name="Google Shape;1462;p34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463" name="Google Shape;1463;p34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464" name="Google Shape;1464;p34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34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6" name="Google Shape;1466;p34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467" name="Google Shape;1467;p3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68" name="Google Shape;1468;p3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9" name="Google Shape;1469;p3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0" name="Google Shape;1470;p34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5" name="Google Shape;1475;p35"/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1476" name="Google Shape;1476;p35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5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5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9" name="Google Shape;1479;p35"/>
          <p:cNvSpPr txBox="1"/>
          <p:nvPr>
            <p:ph type="title"/>
          </p:nvPr>
        </p:nvSpPr>
        <p:spPr>
          <a:xfrm>
            <a:off x="720000" y="4031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700"/>
              <a:t>Algoritmo Recursivo</a:t>
            </a:r>
            <a:endParaRPr/>
          </a:p>
        </p:txBody>
      </p:sp>
      <p:sp>
        <p:nvSpPr>
          <p:cNvPr id="1480" name="Google Shape;1480;p35"/>
          <p:cNvSpPr txBox="1"/>
          <p:nvPr>
            <p:ph idx="1" type="subTitle"/>
          </p:nvPr>
        </p:nvSpPr>
        <p:spPr>
          <a:xfrm>
            <a:off x="669075" y="1075175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versão recursiva segue diretamente a definição clássica do problema.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Ideia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mover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discos: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- 1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discos da origem para a haste auxiliar;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o maior disco para a haste de destino;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- 1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discos da haste auxiliar para a haste de destino.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1" name="Google Shape;1481;p35"/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1482" name="Google Shape;1482;p35"/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3" name="Google Shape;1483;p35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4" name="Google Shape;1484;p35"/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85" name="Google Shape;14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650" y="1219400"/>
            <a:ext cx="3757626" cy="2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35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Trecho de código</a:t>
            </a:r>
            <a:endParaRPr/>
          </a:p>
        </p:txBody>
      </p:sp>
      <p:pic>
        <p:nvPicPr>
          <p:cNvPr id="1492" name="Google Shape;14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475" y="1305950"/>
            <a:ext cx="6238875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36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Função de Custo e Complexidade</a:t>
            </a:r>
            <a:endParaRPr/>
          </a:p>
        </p:txBody>
      </p:sp>
      <p:sp>
        <p:nvSpPr>
          <p:cNvPr id="1499" name="Google Shape;1499;p37"/>
          <p:cNvSpPr txBox="1"/>
          <p:nvPr>
            <p:ph idx="1" type="subTitle"/>
          </p:nvPr>
        </p:nvSpPr>
        <p:spPr>
          <a:xfrm>
            <a:off x="713225" y="1154325"/>
            <a:ext cx="6942600" cy="33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recorrência da Torre de Hanói é: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T(n) = 2T(n - 1) + 1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acontece porque: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algoritmo resolve duas vezes um problema de tamanho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- 1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disso, realiza o movimento do maior disco.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Solução da recorrência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T(n) = 2ⁿ - 1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Complexidade assintótica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37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Algoritmo Iterativo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06" name="Google Shape;1506;p38"/>
          <p:cNvSpPr txBox="1"/>
          <p:nvPr>
            <p:ph idx="1" type="subTitle"/>
          </p:nvPr>
        </p:nvSpPr>
        <p:spPr>
          <a:xfrm>
            <a:off x="796400" y="1243200"/>
            <a:ext cx="6867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da versão recursiva, foi implementada uma versão iterativa para comparação.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 laços de repetição;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chamadas recursivas;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 operações bitwise;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reduz o uso da pilha de execução.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7" name="Google Shape;1507;p38"/>
          <p:cNvPicPr preferRelativeResize="0"/>
          <p:nvPr/>
        </p:nvPicPr>
        <p:blipFill rotWithShape="1">
          <a:blip r:embed="rId3">
            <a:alphaModFix/>
          </a:blip>
          <a:srcRect b="0" l="0" r="18699" t="0"/>
          <a:stretch/>
        </p:blipFill>
        <p:spPr>
          <a:xfrm>
            <a:off x="3568700" y="3069225"/>
            <a:ext cx="48553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38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7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39"/>
          <p:cNvSpPr txBox="1"/>
          <p:nvPr>
            <p:ph idx="1" type="subTitle"/>
          </p:nvPr>
        </p:nvSpPr>
        <p:spPr>
          <a:xfrm>
            <a:off x="720000" y="3252375"/>
            <a:ext cx="6087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testes foram realizados em linguagem C, utilizando repetição automática para medir o tempo médio de execução.</a:t>
            </a:r>
            <a:endParaRPr/>
          </a:p>
        </p:txBody>
      </p:sp>
      <p:grpSp>
        <p:nvGrpSpPr>
          <p:cNvPr id="1514" name="Google Shape;1514;p39"/>
          <p:cNvGrpSpPr/>
          <p:nvPr/>
        </p:nvGrpSpPr>
        <p:grpSpPr>
          <a:xfrm>
            <a:off x="-374387" y="3558025"/>
            <a:ext cx="3922590" cy="2969900"/>
            <a:chOff x="-374387" y="3354325"/>
            <a:chExt cx="3922590" cy="2969900"/>
          </a:xfrm>
        </p:grpSpPr>
        <p:pic>
          <p:nvPicPr>
            <p:cNvPr id="1515" name="Google Shape;1515;p3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6" name="Google Shape;1516;p39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7" name="Google Shape;1517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0" name="Google Shape;1520;p39"/>
          <p:cNvSpPr txBox="1"/>
          <p:nvPr>
            <p:ph type="title"/>
          </p:nvPr>
        </p:nvSpPr>
        <p:spPr>
          <a:xfrm>
            <a:off x="720000" y="18756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Metodologia dos Testes</a:t>
            </a:r>
            <a:endParaRPr/>
          </a:p>
        </p:txBody>
      </p:sp>
      <p:grpSp>
        <p:nvGrpSpPr>
          <p:cNvPr id="1521" name="Google Shape;1521;p39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522" name="Google Shape;1522;p39"/>
            <p:cNvSpPr/>
            <p:nvPr/>
          </p:nvSpPr>
          <p:spPr>
            <a:xfrm>
              <a:off x="6368175" y="103161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6711143" y="81300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7243039" y="2456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6875804" y="622450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6573850" y="621225"/>
              <a:ext cx="1860443" cy="4595326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7" name="Google Shape;1527;p3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8" name="Google Shape;1528;p39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29" name="Google Shape;1529;p3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6" name="Google Shape;1536;p39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37" name="Google Shape;1537;p3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3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4" name="Google Shape;1544;p39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45" name="Google Shape;1545;p39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9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7" name="Google Shape;1547;p39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48" name="Google Shape;1548;p39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9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0" name="Google Shape;1550;p39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1" name="Google Shape;1551;p39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52" name="Google Shape;1552;p3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3" name="Google Shape;1553;p3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4" name="Google Shape;1554;p3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5" name="Google Shape;1555;p39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8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40"/>
          <p:cNvSpPr txBox="1"/>
          <p:nvPr>
            <p:ph idx="1" type="subTitle"/>
          </p:nvPr>
        </p:nvSpPr>
        <p:spPr>
          <a:xfrm>
            <a:off x="4838628" y="235745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 = 10</a:t>
            </a:r>
            <a:endParaRPr sz="17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 = 15</a:t>
            </a:r>
            <a:endParaRPr sz="17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 = 20</a:t>
            </a:r>
            <a:endParaRPr sz="17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 = 25</a:t>
            </a:r>
            <a:endParaRPr sz="17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 = 30</a:t>
            </a:r>
            <a:endParaRPr sz="17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rPr>
              <a:t>n = 35</a:t>
            </a:r>
            <a:endParaRPr sz="1700">
              <a:solidFill>
                <a:srgbClr val="19191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40"/>
          <p:cNvSpPr txBox="1"/>
          <p:nvPr>
            <p:ph idx="2" type="subTitle"/>
          </p:nvPr>
        </p:nvSpPr>
        <p:spPr>
          <a:xfrm>
            <a:off x="972000" y="235745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linguagem: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ambiente: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medição de tempo: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QueryPerformanceCounter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repetições por teste: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40"/>
          <p:cNvSpPr txBox="1"/>
          <p:nvPr>
            <p:ph idx="3" type="subTitle"/>
          </p:nvPr>
        </p:nvSpPr>
        <p:spPr>
          <a:xfrm>
            <a:off x="4541573" y="1857500"/>
            <a:ext cx="28002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Entradas testadas</a:t>
            </a:r>
            <a:endParaRPr/>
          </a:p>
        </p:txBody>
      </p:sp>
      <p:sp>
        <p:nvSpPr>
          <p:cNvPr id="1563" name="Google Shape;1563;p40"/>
          <p:cNvSpPr txBox="1"/>
          <p:nvPr>
            <p:ph idx="4" type="subTitle"/>
          </p:nvPr>
        </p:nvSpPr>
        <p:spPr>
          <a:xfrm>
            <a:off x="1073875" y="1857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Configuração</a:t>
            </a:r>
            <a:endParaRPr/>
          </a:p>
        </p:txBody>
      </p:sp>
      <p:sp>
        <p:nvSpPr>
          <p:cNvPr id="1564" name="Google Shape;1564;p40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Resultados: Torre de Hanói Recursiva</a:t>
            </a:r>
            <a:endParaRPr/>
          </a:p>
        </p:txBody>
      </p:sp>
      <p:pic>
        <p:nvPicPr>
          <p:cNvPr id="1570" name="Google Shape;157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535100"/>
            <a:ext cx="7197900" cy="30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41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Resultados: Torre de Hanói Iterativa</a:t>
            </a:r>
            <a:endParaRPr/>
          </a:p>
        </p:txBody>
      </p:sp>
      <p:pic>
        <p:nvPicPr>
          <p:cNvPr id="1577" name="Google Shape;15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25" y="1602975"/>
            <a:ext cx="7172400" cy="28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42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11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Comparando os resultados médios:</a:t>
            </a:r>
            <a:endParaRPr/>
          </a:p>
        </p:txBody>
      </p:sp>
      <p:sp>
        <p:nvSpPr>
          <p:cNvPr id="1584" name="Google Shape;1584;p43"/>
          <p:cNvSpPr txBox="1"/>
          <p:nvPr>
            <p:ph idx="1" type="subTitle"/>
          </p:nvPr>
        </p:nvSpPr>
        <p:spPr>
          <a:xfrm>
            <a:off x="865650" y="1595753"/>
            <a:ext cx="7412700" cy="3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para 10 discos, a iterativa foi cerca de 35,8% mais rápida;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para 15 discos, cerca de 46,2% mais rápida;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para 20 discos, cerca de 33,4% mais rápida;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para 25 discos, cerca de 33,98% mais rápida;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para 30 discos, cerca de 35,4% mais rápida;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para 35 discos, cerca de 25,5% mais rápida.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Isso mostra que a versão iterativa apresenta melhor desempenho prático, embora ambas mantenham o mesmo crescimento exponencial.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43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12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0" name="Google Shape;1590;p44"/>
          <p:cNvGrpSpPr/>
          <p:nvPr/>
        </p:nvGrpSpPr>
        <p:grpSpPr>
          <a:xfrm>
            <a:off x="-3733392" y="-3230210"/>
            <a:ext cx="8164418" cy="6343459"/>
            <a:chOff x="-2613417" y="-2806210"/>
            <a:chExt cx="8164418" cy="6343459"/>
          </a:xfrm>
        </p:grpSpPr>
        <p:grpSp>
          <p:nvGrpSpPr>
            <p:cNvPr id="1591" name="Google Shape;1591;p44"/>
            <p:cNvGrpSpPr/>
            <p:nvPr/>
          </p:nvGrpSpPr>
          <p:grpSpPr>
            <a:xfrm>
              <a:off x="-2613417" y="-2806210"/>
              <a:ext cx="8164418" cy="6343459"/>
              <a:chOff x="-2613417" y="-2806210"/>
              <a:chExt cx="8164418" cy="6343459"/>
            </a:xfrm>
          </p:grpSpPr>
          <p:grpSp>
            <p:nvGrpSpPr>
              <p:cNvPr id="1592" name="Google Shape;1592;p44"/>
              <p:cNvGrpSpPr/>
              <p:nvPr/>
            </p:nvGrpSpPr>
            <p:grpSpPr>
              <a:xfrm>
                <a:off x="-191059" y="95963"/>
                <a:ext cx="1538562" cy="971589"/>
                <a:chOff x="-191059" y="95963"/>
                <a:chExt cx="1538562" cy="971589"/>
              </a:xfrm>
            </p:grpSpPr>
            <p:grpSp>
              <p:nvGrpSpPr>
                <p:cNvPr id="1593" name="Google Shape;1593;p44"/>
                <p:cNvGrpSpPr/>
                <p:nvPr/>
              </p:nvGrpSpPr>
              <p:grpSpPr>
                <a:xfrm>
                  <a:off x="-191059" y="201619"/>
                  <a:ext cx="904284" cy="865933"/>
                  <a:chOff x="2038491" y="-937756"/>
                  <a:chExt cx="904284" cy="865933"/>
                </a:xfrm>
              </p:grpSpPr>
              <p:grpSp>
                <p:nvGrpSpPr>
                  <p:cNvPr id="1594" name="Google Shape;1594;p44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95" name="Google Shape;1595;p4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6" name="Google Shape;1596;p4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7" name="Google Shape;1597;p4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8" name="Google Shape;1598;p4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599" name="Google Shape;1599;p4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600" name="Google Shape;1600;p44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01" name="Google Shape;1601;p44"/>
                <p:cNvGrpSpPr/>
                <p:nvPr/>
              </p:nvGrpSpPr>
              <p:grpSpPr>
                <a:xfrm>
                  <a:off x="584533" y="9596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602" name="Google Shape;1602;p44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603" name="Google Shape;1603;p4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4" name="Google Shape;1604;p4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5" name="Google Shape;1605;p4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6" name="Google Shape;1606;p4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07" name="Google Shape;1607;p4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608" name="Google Shape;1608;p44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09" name="Google Shape;1609;p44"/>
                <p:cNvGrpSpPr/>
                <p:nvPr/>
              </p:nvGrpSpPr>
              <p:grpSpPr>
                <a:xfrm>
                  <a:off x="530445" y="48191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610" name="Google Shape;1610;p44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611" name="Google Shape;1611;p4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2" name="Google Shape;1612;p4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3" name="Google Shape;1613;p4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4" name="Google Shape;1614;p4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15" name="Google Shape;1615;p4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616" name="Google Shape;1616;p44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617" name="Google Shape;1617;p44"/>
                <p:cNvGrpSpPr/>
                <p:nvPr/>
              </p:nvGrpSpPr>
              <p:grpSpPr>
                <a:xfrm>
                  <a:off x="874020" y="312788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618" name="Google Shape;1618;p44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619" name="Google Shape;1619;p4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0" name="Google Shape;1620;p4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1" name="Google Shape;1621;p4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2" name="Google Shape;1622;p4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623" name="Google Shape;1623;p4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624" name="Google Shape;1624;p44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625" name="Google Shape;1625;p44"/>
              <p:cNvGrpSpPr/>
              <p:nvPr/>
            </p:nvGrpSpPr>
            <p:grpSpPr>
              <a:xfrm rot="-7479050">
                <a:off x="-2051246" y="-1642948"/>
                <a:ext cx="4889863" cy="3931229"/>
                <a:chOff x="7103825" y="-713112"/>
                <a:chExt cx="3785226" cy="3043150"/>
              </a:xfrm>
            </p:grpSpPr>
            <p:sp>
              <p:nvSpPr>
                <p:cNvPr id="1626" name="Google Shape;1626;p44"/>
                <p:cNvSpPr/>
                <p:nvPr/>
              </p:nvSpPr>
              <p:spPr>
                <a:xfrm rot="-3600017">
                  <a:off x="7761095" y="-21"/>
                  <a:ext cx="2152450" cy="1864030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627" name="Google Shape;1627;p4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17664" l="0" r="0" t="17657"/>
                <a:stretch/>
              </p:blipFill>
              <p:spPr>
                <a:xfrm>
                  <a:off x="7103825" y="-713112"/>
                  <a:ext cx="3785226" cy="28889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28" name="Google Shape;1628;p44"/>
              <p:cNvGrpSpPr/>
              <p:nvPr/>
            </p:nvGrpSpPr>
            <p:grpSpPr>
              <a:xfrm>
                <a:off x="-640220" y="-2653973"/>
                <a:ext cx="6191222" cy="6191222"/>
                <a:chOff x="-640220" y="-2502423"/>
                <a:chExt cx="6191222" cy="6191222"/>
              </a:xfrm>
            </p:grpSpPr>
            <p:sp>
              <p:nvSpPr>
                <p:cNvPr id="1629" name="Google Shape;1629;p44"/>
                <p:cNvSpPr/>
                <p:nvPr/>
              </p:nvSpPr>
              <p:spPr>
                <a:xfrm rot="-8100000">
                  <a:off x="452224" y="-1781500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0" name="Google Shape;1630;p44"/>
                <p:cNvSpPr/>
                <p:nvPr/>
              </p:nvSpPr>
              <p:spPr>
                <a:xfrm rot="-8100000">
                  <a:off x="83608" y="-617740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31" name="Google Shape;1631;p44"/>
            <p:cNvGrpSpPr/>
            <p:nvPr/>
          </p:nvGrpSpPr>
          <p:grpSpPr>
            <a:xfrm>
              <a:off x="-12" y="-195650"/>
              <a:ext cx="439200" cy="439100"/>
              <a:chOff x="1101075" y="2142375"/>
              <a:chExt cx="439200" cy="439100"/>
            </a:xfrm>
          </p:grpSpPr>
          <p:sp>
            <p:nvSpPr>
              <p:cNvPr id="1632" name="Google Shape;1632;p4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4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34" name="Google Shape;1634;p44"/>
          <p:cNvGrpSpPr/>
          <p:nvPr/>
        </p:nvGrpSpPr>
        <p:grpSpPr>
          <a:xfrm>
            <a:off x="4664744" y="2531600"/>
            <a:ext cx="5765856" cy="4103650"/>
            <a:chOff x="4452944" y="2184175"/>
            <a:chExt cx="5765856" cy="4103650"/>
          </a:xfrm>
        </p:grpSpPr>
        <p:pic>
          <p:nvPicPr>
            <p:cNvPr id="1635" name="Google Shape;1635;p44"/>
            <p:cNvPicPr preferRelativeResize="0"/>
            <p:nvPr/>
          </p:nvPicPr>
          <p:blipFill rotWithShape="1">
            <a:blip r:embed="rId4">
              <a:alphaModFix/>
            </a:blip>
            <a:srcRect b="26177" l="16960" r="7121" t="24719"/>
            <a:stretch/>
          </p:blipFill>
          <p:spPr>
            <a:xfrm flipH="1" rot="-5400000">
              <a:off x="6600975" y="2670000"/>
              <a:ext cx="4103650" cy="313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36" name="Google Shape;1636;p44"/>
            <p:cNvGrpSpPr/>
            <p:nvPr/>
          </p:nvGrpSpPr>
          <p:grpSpPr>
            <a:xfrm flipH="1" rot="-5400000">
              <a:off x="8074852" y="4089881"/>
              <a:ext cx="1478405" cy="1186772"/>
              <a:chOff x="7945225" y="4302000"/>
              <a:chExt cx="904666" cy="726121"/>
            </a:xfrm>
          </p:grpSpPr>
          <p:sp>
            <p:nvSpPr>
              <p:cNvPr id="1637" name="Google Shape;1637;p4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4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4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0" name="Google Shape;1640;p44"/>
            <p:cNvSpPr/>
            <p:nvPr/>
          </p:nvSpPr>
          <p:spPr>
            <a:xfrm flipH="1" rot="-5400000">
              <a:off x="5435889" y="14813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1" name="Google Shape;1641;p44"/>
            <p:cNvGrpSpPr/>
            <p:nvPr/>
          </p:nvGrpSpPr>
          <p:grpSpPr>
            <a:xfrm flipH="1" rot="-5400000">
              <a:off x="7140078" y="3883230"/>
              <a:ext cx="134004" cy="134004"/>
              <a:chOff x="8356813" y="1074288"/>
              <a:chExt cx="351900" cy="351900"/>
            </a:xfrm>
          </p:grpSpPr>
          <p:sp>
            <p:nvSpPr>
              <p:cNvPr id="1642" name="Google Shape;1642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4" name="Google Shape;1644;p44"/>
            <p:cNvGrpSpPr/>
            <p:nvPr/>
          </p:nvGrpSpPr>
          <p:grpSpPr>
            <a:xfrm flipH="1" rot="-5400000">
              <a:off x="6766253" y="3499155"/>
              <a:ext cx="134004" cy="134004"/>
              <a:chOff x="8356813" y="1074288"/>
              <a:chExt cx="351900" cy="351900"/>
            </a:xfrm>
          </p:grpSpPr>
          <p:sp>
            <p:nvSpPr>
              <p:cNvPr id="1645" name="Google Shape;1645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7" name="Google Shape;1647;p44"/>
            <p:cNvSpPr/>
            <p:nvPr/>
          </p:nvSpPr>
          <p:spPr>
            <a:xfrm flipH="1" rot="5400000">
              <a:off x="6561314" y="2368138"/>
              <a:ext cx="1902692" cy="406951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4"/>
            <p:cNvSpPr/>
            <p:nvPr/>
          </p:nvSpPr>
          <p:spPr>
            <a:xfrm flipH="1" rot="5400000">
              <a:off x="6562398" y="2676948"/>
              <a:ext cx="1902692" cy="406951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9" name="Google Shape;1649;p44"/>
            <p:cNvGrpSpPr/>
            <p:nvPr/>
          </p:nvGrpSpPr>
          <p:grpSpPr>
            <a:xfrm flipH="1" rot="-5400000">
              <a:off x="7404606" y="3451356"/>
              <a:ext cx="582050" cy="582425"/>
              <a:chOff x="959750" y="3039275"/>
              <a:chExt cx="582050" cy="582425"/>
            </a:xfrm>
          </p:grpSpPr>
          <p:sp>
            <p:nvSpPr>
              <p:cNvPr id="1650" name="Google Shape;1650;p4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4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4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4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4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4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4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7" name="Google Shape;1657;p44"/>
            <p:cNvGrpSpPr/>
            <p:nvPr/>
          </p:nvGrpSpPr>
          <p:grpSpPr>
            <a:xfrm flipH="1" rot="-5400000">
              <a:off x="7237650" y="4201057"/>
              <a:ext cx="699928" cy="1651024"/>
              <a:chOff x="8337812" y="3492483"/>
              <a:chExt cx="699928" cy="1651024"/>
            </a:xfrm>
          </p:grpSpPr>
          <p:sp>
            <p:nvSpPr>
              <p:cNvPr id="1658" name="Google Shape;1658;p4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4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4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1" name="Google Shape;1661;p44"/>
            <p:cNvSpPr/>
            <p:nvPr/>
          </p:nvSpPr>
          <p:spPr>
            <a:xfrm flipH="1" rot="147769">
              <a:off x="7025973" y="4504982"/>
              <a:ext cx="454547" cy="449759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4"/>
            <p:cNvSpPr/>
            <p:nvPr/>
          </p:nvSpPr>
          <p:spPr>
            <a:xfrm flipH="1" rot="147769">
              <a:off x="6785273" y="4569932"/>
              <a:ext cx="454547" cy="449759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63" name="Google Shape;1663;p44"/>
            <p:cNvGrpSpPr/>
            <p:nvPr/>
          </p:nvGrpSpPr>
          <p:grpSpPr>
            <a:xfrm flipH="1" rot="-5400000">
              <a:off x="5819578" y="4727817"/>
              <a:ext cx="134004" cy="134004"/>
              <a:chOff x="8356813" y="1074288"/>
              <a:chExt cx="351900" cy="351900"/>
            </a:xfrm>
          </p:grpSpPr>
          <p:sp>
            <p:nvSpPr>
              <p:cNvPr id="1664" name="Google Shape;1664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66" name="Google Shape;1666;p44"/>
          <p:cNvSpPr txBox="1"/>
          <p:nvPr>
            <p:ph type="title"/>
          </p:nvPr>
        </p:nvSpPr>
        <p:spPr>
          <a:xfrm>
            <a:off x="670800" y="41986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—Análise dos resultados</a:t>
            </a:r>
            <a:endParaRPr/>
          </a:p>
        </p:txBody>
      </p:sp>
      <p:sp>
        <p:nvSpPr>
          <p:cNvPr id="1667" name="Google Shape;1667;p44"/>
          <p:cNvSpPr txBox="1"/>
          <p:nvPr>
            <p:ph idx="1" type="subTitle"/>
          </p:nvPr>
        </p:nvSpPr>
        <p:spPr>
          <a:xfrm>
            <a:off x="713225" y="483800"/>
            <a:ext cx="7859400" cy="35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A análise experimental mostra que a diferença entre as implementações está relacionada principalmente ao custo de execução no hardware.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Na versão recursiva: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há chamadas sucessivas de função;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ocorre uso intenso da pilha de execução;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existe maior overhead.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Na versão iterativa: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o controle é feito por laços e operações lógicas;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não há empilhamento recursivo;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Mono"/>
              <a:buChar char="●"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o tempo absoluto tende a ser menor.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IBM Plex Mono"/>
                <a:ea typeface="IBM Plex Mono"/>
                <a:cs typeface="IBM Plex Mono"/>
                <a:sym typeface="IBM Plex Mono"/>
              </a:rPr>
              <a:t>Assim, a implementação influencia bastante o desempenho prático, mesmo quando a complexidade teórica permanece a mesma.</a:t>
            </a:r>
            <a:endParaRPr sz="12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8" name="Google Shape;1668;p44"/>
          <p:cNvGrpSpPr/>
          <p:nvPr/>
        </p:nvGrpSpPr>
        <p:grpSpPr>
          <a:xfrm flipH="1" rot="-5400000">
            <a:off x="8904403" y="2929792"/>
            <a:ext cx="134004" cy="134004"/>
            <a:chOff x="8356813" y="1074288"/>
            <a:chExt cx="351900" cy="351900"/>
          </a:xfrm>
        </p:grpSpPr>
        <p:sp>
          <p:nvSpPr>
            <p:cNvPr id="1669" name="Google Shape;1669;p44"/>
            <p:cNvSpPr/>
            <p:nvPr/>
          </p:nvSpPr>
          <p:spPr>
            <a:xfrm>
              <a:off x="8356813" y="1074288"/>
              <a:ext cx="351900" cy="3519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4"/>
            <p:cNvSpPr/>
            <p:nvPr/>
          </p:nvSpPr>
          <p:spPr>
            <a:xfrm>
              <a:off x="8406497" y="1123972"/>
              <a:ext cx="252600" cy="252600"/>
            </a:xfrm>
            <a:prstGeom prst="ellipse">
              <a:avLst/>
            </a:pr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1" name="Google Shape;1671;p44"/>
          <p:cNvGrpSpPr/>
          <p:nvPr/>
        </p:nvGrpSpPr>
        <p:grpSpPr>
          <a:xfrm>
            <a:off x="779125" y="4064538"/>
            <a:ext cx="4558967" cy="134100"/>
            <a:chOff x="796100" y="3019701"/>
            <a:chExt cx="4558967" cy="134100"/>
          </a:xfrm>
        </p:grpSpPr>
        <p:sp>
          <p:nvSpPr>
            <p:cNvPr id="1672" name="Google Shape;1672;p4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3" name="Google Shape;1673;p4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4" name="Google Shape;1674;p4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5" name="Google Shape;1675;p44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13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45"/>
          <p:cNvSpPr txBox="1"/>
          <p:nvPr>
            <p:ph type="title"/>
          </p:nvPr>
        </p:nvSpPr>
        <p:spPr>
          <a:xfrm>
            <a:off x="720000" y="479750"/>
            <a:ext cx="8251500" cy="8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Considerações sobre o ambiente</a:t>
            </a:r>
            <a:endParaRPr/>
          </a:p>
        </p:txBody>
      </p:sp>
      <p:sp>
        <p:nvSpPr>
          <p:cNvPr id="1681" name="Google Shape;1681;p45"/>
          <p:cNvSpPr txBox="1"/>
          <p:nvPr>
            <p:ph idx="1" type="subTitle"/>
          </p:nvPr>
        </p:nvSpPr>
        <p:spPr>
          <a:xfrm>
            <a:off x="720000" y="1447050"/>
            <a:ext cx="77847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Durante os testes, pequenas variações de tempo podem ocorrer por fatores do ambiente de execução, como: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escalonamento do sistema operacional;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uso dos níveis de cache da CPU;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aquecimento do processador em execuções longas.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 reduzir esses efeitos, cada teste foi repetido 20 vezes, e a análise foi feita com base na média dos resultados.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682" name="Google Shape;1682;p45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683" name="Google Shape;1683;p45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5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5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5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5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5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5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0" name="Google Shape;1690;p45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14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46"/>
          <p:cNvSpPr txBox="1"/>
          <p:nvPr>
            <p:ph idx="6" type="subTitle"/>
          </p:nvPr>
        </p:nvSpPr>
        <p:spPr>
          <a:xfrm>
            <a:off x="382086" y="1271425"/>
            <a:ext cx="8048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resultados mostram que as versões recursiva e iterativa da Torre de Hanói possuem a mesma complexidade assintótica:</a:t>
            </a:r>
            <a:endParaRPr/>
          </a:p>
        </p:txBody>
      </p:sp>
      <p:sp>
        <p:nvSpPr>
          <p:cNvPr id="1696" name="Google Shape;1696;p46"/>
          <p:cNvSpPr txBox="1"/>
          <p:nvPr>
            <p:ph idx="3" type="subTitle"/>
          </p:nvPr>
        </p:nvSpPr>
        <p:spPr>
          <a:xfrm>
            <a:off x="382075" y="1723000"/>
            <a:ext cx="80487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entanto, a versão iterativa apresentou desempenho consistentemente superior em todos os testes realizados.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Portanto, o estudo evidencia que: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complexidade assintótica define o comportamento de crescimento do algoritmo;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forma de implementação influencia diretamente o tempo prático de execução.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reforça a importância de analisar tanto a teoria quanto a prática no estudo de algoritmos.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46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15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47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47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4" name="Google Shape;1704;p47" title="ChatGPT Image 25 de abr. de 2026, 13_40_18.png"/>
          <p:cNvPicPr preferRelativeResize="0"/>
          <p:nvPr/>
        </p:nvPicPr>
        <p:blipFill rotWithShape="1">
          <a:blip r:embed="rId3">
            <a:alphaModFix/>
          </a:blip>
          <a:srcRect b="0" l="620" r="-620" t="0"/>
          <a:stretch/>
        </p:blipFill>
        <p:spPr>
          <a:xfrm>
            <a:off x="118545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47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16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48" title="ChatGPT Image 25 de abr. de 2026, 13_40_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450" y="93000"/>
            <a:ext cx="64516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48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17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49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 por assistir</a:t>
            </a:r>
            <a:endParaRPr/>
          </a:p>
        </p:txBody>
      </p:sp>
      <p:grpSp>
        <p:nvGrpSpPr>
          <p:cNvPr id="1717" name="Google Shape;1717;p49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718" name="Google Shape;1718;p4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9" name="Google Shape;1719;p49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720" name="Google Shape;1720;p49"/>
              <p:cNvSpPr/>
              <p:nvPr/>
            </p:nvSpPr>
            <p:spPr>
              <a:xfrm flipH="1" rot="-2700000">
                <a:off x="-146394" y="-2093348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49"/>
              <p:cNvSpPr/>
              <p:nvPr/>
            </p:nvSpPr>
            <p:spPr>
              <a:xfrm flipH="1" rot="-2700000">
                <a:off x="-515017" y="-1565448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49"/>
              <p:cNvSpPr/>
              <p:nvPr/>
            </p:nvSpPr>
            <p:spPr>
              <a:xfrm flipH="1" rot="-2700000">
                <a:off x="194575" y="-1729713"/>
                <a:ext cx="3153371" cy="5119296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23" name="Google Shape;1723;p49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724" name="Google Shape;1724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5" name="Google Shape;1725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26" name="Google Shape;1726;p49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727" name="Google Shape;1727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8" name="Google Shape;1728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29" name="Google Shape;1729;p49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730" name="Google Shape;1730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1" name="Google Shape;1731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32" name="Google Shape;1732;p49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733" name="Google Shape;1733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4" name="Google Shape;1734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35" name="Google Shape;1735;p49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736" name="Google Shape;1736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7" name="Google Shape;1737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738" name="Google Shape;1738;p49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1739" name="Google Shape;1739;p4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40" name="Google Shape;1740;p49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741" name="Google Shape;1741;p49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742" name="Google Shape;1742;p49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3" name="Google Shape;1743;p49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44" name="Google Shape;1744;p49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745" name="Google Shape;1745;p49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6" name="Google Shape;1746;p49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7" name="Google Shape;1747;p49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48" name="Google Shape;1748;p49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749" name="Google Shape;1749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750" name="Google Shape;1750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751" name="Google Shape;1751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752" name="Google Shape;1752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3" name="Google Shape;1753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4" name="Google Shape;1754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5" name="Google Shape;1755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56" name="Google Shape;1756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757" name="Google Shape;1757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58" name="Google Shape;1758;p49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759" name="Google Shape;1759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760" name="Google Shape;1760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761" name="Google Shape;1761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762" name="Google Shape;1762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3" name="Google Shape;1763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4" name="Google Shape;1764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5" name="Google Shape;1765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66" name="Google Shape;1766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767" name="Google Shape;1767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68" name="Google Shape;1768;p49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769" name="Google Shape;1769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770" name="Google Shape;1770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771" name="Google Shape;1771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772" name="Google Shape;1772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73" name="Google Shape;1773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74" name="Google Shape;1774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75" name="Google Shape;1775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776" name="Google Shape;1776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777" name="Google Shape;1777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78" name="Google Shape;1778;p49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779" name="Google Shape;1779;p49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0" name="Google Shape;1780;p49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81" name="Google Shape;1781;p49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782" name="Google Shape;1782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4" name="Google Shape;1784;p49"/>
          <p:cNvGrpSpPr/>
          <p:nvPr/>
        </p:nvGrpSpPr>
        <p:grpSpPr>
          <a:xfrm>
            <a:off x="774450" y="3214926"/>
            <a:ext cx="5944442" cy="134100"/>
            <a:chOff x="774450" y="3019701"/>
            <a:chExt cx="5944442" cy="134100"/>
          </a:xfrm>
        </p:grpSpPr>
        <p:sp>
          <p:nvSpPr>
            <p:cNvPr id="1785" name="Google Shape;1785;p49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86" name="Google Shape;1786;p49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7" name="Google Shape;1787;p49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8" name="Google Shape;1788;p49"/>
          <p:cNvSpPr txBox="1"/>
          <p:nvPr/>
        </p:nvSpPr>
        <p:spPr>
          <a:xfrm>
            <a:off x="8411225" y="4634250"/>
            <a:ext cx="45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18</a:t>
            </a:r>
            <a:endParaRPr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